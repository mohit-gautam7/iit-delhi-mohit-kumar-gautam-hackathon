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F3F6FC"/>
                </a:solidFill>
                <a:latin typeface="Calibri"/>
              </a:rPr>
              <a:t>P&amp;L by risk factor (USD m)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22C55E"/>
              </a:solidFill>
            </c:spPr>
          </c:dPt>
          <c:dPt>
            <c:idx val="1"/>
            <c:invertIfNegative val="0"/>
            <c:spPr>
              <a:solidFill>
                <a:srgbClr val="F05260"/>
              </a:solidFill>
            </c:spPr>
          </c:dPt>
          <c:dPt>
            <c:idx val="2"/>
            <c:invertIfNegative val="0"/>
            <c:spPr>
              <a:solidFill>
                <a:srgbClr val="F05260"/>
              </a:solidFill>
            </c:spPr>
          </c:dPt>
          <c:dPt>
            <c:idx val="3"/>
            <c:invertIfNegative val="0"/>
            <c:spPr>
              <a:solidFill>
                <a:srgbClr val="F05260"/>
              </a:solidFill>
            </c:spPr>
          </c:dPt>
          <c:dPt>
            <c:idx val="4"/>
            <c:invertIfNegative val="0"/>
            <c:spPr>
              <a:solidFill>
                <a:srgbClr val="F05260"/>
              </a:solidFill>
            </c:spPr>
          </c:dPt>
          <c:dPt>
            <c:idx val="5"/>
            <c:invertIfNegative val="0"/>
            <c:spPr>
              <a:solidFill>
                <a:srgbClr val="F05260"/>
              </a:solidFill>
            </c:spPr>
          </c:dPt>
          <c:dPt>
            <c:idx val="6"/>
            <c:invertIfNegative val="0"/>
            <c:spPr>
              <a:solidFill>
                <a:srgbClr val="F05260"/>
              </a:solidFill>
            </c:spPr>
          </c:dPt>
          <c:cat>
            <c:strRef>
              <c:f>Sheet1!$A$2:$A$8</c:f>
              <c:strCache>
                <c:ptCount val="7"/>
                <c:pt idx="0">
                  <c:v>Interest rates</c:v>
                </c:pt>
                <c:pt idx="1">
                  <c:v>Credit spreads</c:v>
                </c:pt>
                <c:pt idx="2">
                  <c:v>Equity prices</c:v>
                </c:pt>
                <c:pt idx="3">
                  <c:v>FX rates</c:v>
                </c:pt>
                <c:pt idx="4">
                  <c:v>Commodities</c:v>
                </c:pt>
                <c:pt idx="5">
                  <c:v>Expected credit loss</c:v>
                </c:pt>
                <c:pt idx="6">
                  <c:v>Liquidity haircut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9.02</c:v>
                </c:pt>
                <c:pt idx="1">
                  <c:v>-9.66</c:v>
                </c:pt>
                <c:pt idx="2">
                  <c:v>-14.12</c:v>
                </c:pt>
                <c:pt idx="3">
                  <c:v>-3.32</c:v>
                </c:pt>
                <c:pt idx="4">
                  <c:v>-1.5</c:v>
                </c:pt>
                <c:pt idx="5">
                  <c:v>-1.24</c:v>
                </c:pt>
                <c:pt idx="6">
                  <c:v>-7.87</c:v>
                </c:pt>
              </c:numCache>
            </c:numRef>
          </c:val>
        </c:ser>
        <c:dLbls>
          <c:numFmt formatCode="0.0;-0.0" sourceLinked="0"/>
          <c:txPr>
            <a:bodyPr/>
            <a:lstStyle/>
            <a:p>
              <a:pPr>
                <a:defRPr sz="1100">
                  <a:solidFill>
                    <a:srgbClr val="F3F6FC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2B3A50"/>
            </a:solidFill>
          </a:ln>
        </c:spPr>
        <c:txPr>
          <a:bodyPr/>
          <a:lstStyle/>
          <a:p>
            <a:pPr>
              <a:defRPr sz="1100">
                <a:solidFill>
                  <a:srgbClr val="F3F6F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.0"/>
          <c:min val="-20.0"/>
        </c:scaling>
        <c:delete val="0"/>
        <c:axPos val="b"/>
        <c:majorGridlines>
          <c:spPr>
            <a:ln>
              <a:solidFill>
                <a:srgbClr val="2B3A50"/>
              </a:solidFill>
            </a:ln>
          </c:spPr>
        </c:majorGridlines>
        <c:numFmt formatCode="0.0;-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94A3B8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94A3B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F3F6FC"/>
                </a:solidFill>
                <a:latin typeface="Calibri"/>
              </a:rPr>
              <a:t>Sentiment accuracy, % (628 labelled)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94A3B8"/>
              </a:solidFill>
            </c:spPr>
          </c:dPt>
          <c:dPt>
            <c:idx val="1"/>
            <c:invertIfNegative val="0"/>
            <c:spPr>
              <a:solidFill>
                <a:srgbClr val="4F7CFF"/>
              </a:solidFill>
            </c:spPr>
          </c:dPt>
          <c:dPt>
            <c:idx val="2"/>
            <c:invertIfNegative val="0"/>
            <c:spPr>
              <a:solidFill>
                <a:srgbClr val="18A999"/>
              </a:solidFill>
            </c:spPr>
          </c:dPt>
          <c:cat>
            <c:strRef>
              <c:f>Sheet1!$A$2:$A$4</c:f>
              <c:strCache>
                <c:ptCount val="3"/>
                <c:pt idx="0">
                  <c:v>Naive VADER</c:v>
                </c:pt>
                <c:pt idx="1">
                  <c:v>Finance VADER</c:v>
                </c:pt>
                <c:pt idx="2">
                  <c:v>FinBERT (opt.)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57.5</c:v>
                </c:pt>
                <c:pt idx="1">
                  <c:v>70.4</c:v>
                </c:pt>
                <c:pt idx="2">
                  <c:v>82.3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F3F6FC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2B3A50"/>
            </a:solidFill>
          </a:ln>
        </c:spPr>
        <c:txPr>
          <a:bodyPr/>
          <a:lstStyle/>
          <a:p>
            <a:pPr>
              <a:defRPr sz="1100">
                <a:solidFill>
                  <a:srgbClr val="F3F6F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2B3A50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94A3B8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94A3B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F3F6FC"/>
                </a:solidFill>
                <a:latin typeface="Calibri"/>
              </a:rPr>
              <a:t>Event accuracy on 44 unseen paraphrases, %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4F7CFF"/>
              </a:solidFill>
            </c:spPr>
          </c:dPt>
          <c:dPt>
            <c:idx val="1"/>
            <c:invertIfNegative val="0"/>
            <c:spPr>
              <a:solidFill>
                <a:srgbClr val="18A999"/>
              </a:solidFill>
            </c:spPr>
          </c:dPt>
          <c:cat>
            <c:strRef>
              <c:f>Sheet1!$A$2:$A$3</c:f>
              <c:strCache>
                <c:ptCount val="2"/>
                <c:pt idx="0">
                  <c:v>Hybrid baseline</c:v>
                </c:pt>
                <c:pt idx="1">
                  <c:v>+ zero-shot (opt.)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22.7</c:v>
                </c:pt>
                <c:pt idx="1">
                  <c:v>68.2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F3F6FC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2B3A50"/>
            </a:solidFill>
          </a:ln>
        </c:spPr>
        <c:txPr>
          <a:bodyPr/>
          <a:lstStyle/>
          <a:p>
            <a:pPr>
              <a:defRPr sz="1100">
                <a:solidFill>
                  <a:srgbClr val="F3F6F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2B3A50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94A3B8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94A3B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RiskPulse AI turns news and social text into structured, explainable risk signals and shows what a high-impact event would do to a wholesale-banking portfolio. Everything runs offline on synthetic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pain points: volume, ambiguity (tone vs impact) and the gap between text and P&amp;L. One real record from the bundled data: a missed coupon becomes a Credit Event signal with impact 9, which triggers the issuer-credit scenario and shows the loss on the book, including the CDS hedge.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row: every record becomes a validated, explained signal. Bottom row: a high-impact signal selects a scenario that revalues the synthetic portfolio; results flow to the same dashboard, API and reports. Detailed diagram: docs/architecture.png.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example: how event, sentiment, entity and impact are derived.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trigger, scenario mapping, the factor waterfall and the CDS hedge.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explicit: synthetic evaluation, honest challenge set, engineering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benefit and the main limitation: synthetic validation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RiskPulse AI  ·  S&amp;P Global &amp; Crisil Campus Hackathon 2026  ·  synthetic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46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1 / 7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2296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874519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 i="0">
                <a:solidFill>
                  <a:srgbClr val="F3F6FC"/>
                </a:solidFill>
                <a:latin typeface="Calibri"/>
              </a:rPr>
              <a:t>RiskPulse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88920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4F7CFF"/>
                </a:solidFill>
                <a:latin typeface="Calibri"/>
              </a:rPr>
              <a:t>Intelligent Financial Risk &amp; Portfolio Stress 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1">
                <a:solidFill>
                  <a:srgbClr val="94A3B8"/>
                </a:solidFill>
                <a:latin typeface="Calibri"/>
              </a:rPr>
              <a:t>From unstructured information to actionable financial risk intelligence.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61772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3F6FC"/>
                </a:solidFill>
                <a:latin typeface="Calibri"/>
              </a:rPr>
              <a:t>S&amp;P Global &amp; Crisil Campus Hackathon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8348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3F6FC"/>
                </a:solidFill>
                <a:latin typeface="Calibri"/>
              </a:rPr>
              <a:t>Mohit Kumar Gautam  ·  IIT Delhi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62356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4F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4F7CFF"/>
                </a:solidFill>
                <a:latin typeface="Calibri"/>
              </a:rPr>
              <a:t>AI/NLP risk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562356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18A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18A999"/>
                </a:solidFill>
                <a:latin typeface="Calibri"/>
              </a:rPr>
              <a:t>Module B: stress testing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62356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F4B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F4B942"/>
                </a:solidFill>
                <a:latin typeface="Calibri"/>
              </a:rPr>
              <a:t>Offline · explainable</a:t>
            </a:r>
          </a:p>
        </p:txBody>
      </p:sp>
      <p:pic>
        <p:nvPicPr>
          <p:cNvPr id="13" name="Picture 12" descr="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143000"/>
            <a:ext cx="4526280" cy="2828925"/>
          </a:xfrm>
          <a:prstGeom prst="rect">
            <a:avLst/>
          </a:prstGeom>
          <a:ln w="12700">
            <a:solidFill>
              <a:srgbClr val="2B3A5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7086600" y="4069080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Executive Risk Overview - live dashboard (synthetic data)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4480560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287768" y="46268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Calibri"/>
              </a:rPr>
              <a:t>SIGNALS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89204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3F6FC"/>
                </a:solidFill>
                <a:latin typeface="Calibri"/>
              </a:rPr>
              <a:t>254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1080" y="4480560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842248" y="46268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Calibri"/>
              </a:rPr>
              <a:t>HIGH 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2248" y="489204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05260"/>
                </a:solidFill>
                <a:latin typeface="Calibri"/>
              </a:rPr>
              <a:t>56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60" y="4480560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396728" y="46268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Calibri"/>
              </a:rPr>
              <a:t>TESTS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96728" y="489204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22C55E"/>
                </a:solidFill>
                <a:latin typeface="Calibri"/>
              </a:rPr>
              <a:t>93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F7CFF"/>
                </a:solidFill>
                <a:latin typeface="Calibri"/>
              </a:rPr>
              <a:t>PROBLEM &amp;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3F6FC"/>
                </a:solidFill>
                <a:latin typeface="Calibri"/>
              </a:rPr>
              <a:t>Turning noisy text into risk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RiskPulse AI  ·  S&amp;P Global &amp; Crisil Campus Hackathon 2026  · 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2 /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120640" cy="475488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3F6FC"/>
                </a:solidFill>
                <a:latin typeface="Calibri"/>
              </a:rPr>
              <a:t>The problem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40280"/>
            <a:ext cx="457200" cy="457200"/>
          </a:xfrm>
          <a:prstGeom prst="ellipse">
            <a:avLst/>
          </a:prstGeom>
          <a:solidFill>
            <a:srgbClr val="F05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220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22199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3F6FC"/>
                </a:solidFill>
                <a:latin typeface="Calibri"/>
              </a:rPr>
              <a:t>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542032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Risk-relevant news and posts arrive faster than analysts can read them.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474720"/>
            <a:ext cx="457200" cy="457200"/>
          </a:xfrm>
          <a:prstGeom prst="ellipse">
            <a:avLst/>
          </a:prstGeom>
          <a:solidFill>
            <a:srgbClr val="F05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220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45643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3F6FC"/>
                </a:solidFill>
                <a:latin typeface="Calibri"/>
              </a:rPr>
              <a:t>Ambiguity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776472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Tone is not impact: a negative tweet about a logo is noise; a missed coupon is not.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709160"/>
            <a:ext cx="457200" cy="457200"/>
          </a:xfrm>
          <a:prstGeom prst="ellipse">
            <a:avLst/>
          </a:prstGeom>
          <a:solidFill>
            <a:srgbClr val="F05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220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69087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3F6FC"/>
                </a:solidFill>
                <a:latin typeface="Calibri"/>
              </a:rPr>
              <a:t>Disconnect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010912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Text insight rarely reaches portfolio numbers: what does this event cost us?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1508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3F6FC"/>
                </a:solidFill>
                <a:latin typeface="Calibri"/>
              </a:rPr>
              <a:t>Our approach: headline to P&amp;L in one pipeline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2011680"/>
            <a:ext cx="5532120" cy="100584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63640" y="21031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4F7CFF"/>
                </a:solidFill>
                <a:latin typeface="Calibri"/>
              </a:rPr>
              <a:t>1  RAW TEXT  ·  news-like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39572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F3F6FC"/>
                </a:solidFill>
                <a:latin typeface="Calibri"/>
              </a:rPr>
              <a:t>“Meridian Shipping missed a coupon payment on its senior bonds”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46820" y="3035808"/>
            <a:ext cx="0" cy="329184"/>
          </a:xfrm>
          <a:prstGeom prst="line">
            <a:avLst/>
          </a:prstGeom>
          <a:ln w="22225">
            <a:solidFill>
              <a:srgbClr val="4F7C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080760" y="3383280"/>
            <a:ext cx="5532120" cy="114300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63640" y="34747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4B942"/>
                </a:solidFill>
                <a:latin typeface="Calibri"/>
              </a:rPr>
              <a:t>2  STRUCTURED SIGNAL  ·  NLP engine + explanation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8404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4F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4F7CFF"/>
                </a:solidFill>
                <a:latin typeface="Calibri"/>
              </a:rPr>
              <a:t>Credit Event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25512" y="3840480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F05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F05260"/>
                </a:solidFill>
                <a:latin typeface="Calibri"/>
              </a:rPr>
              <a:t>Sentiment -1.00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24544" y="38404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F052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F05260"/>
                </a:solidFill>
                <a:latin typeface="Calibri"/>
              </a:rPr>
              <a:t>Impact 9/10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49256" y="384048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F3F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F3F6FC"/>
                </a:solidFill>
                <a:latin typeface="Calibri"/>
              </a:rPr>
              <a:t>MRDS · conf 1.00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20624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Calibri"/>
              </a:rPr>
              <a:t>impact &gt; 7  -&gt;  stress test triggered automatically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846820" y="4544568"/>
            <a:ext cx="0" cy="329184"/>
          </a:xfrm>
          <a:prstGeom prst="line">
            <a:avLst/>
          </a:prstGeom>
          <a:ln w="22225">
            <a:solidFill>
              <a:srgbClr val="4F7C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080760" y="4892040"/>
            <a:ext cx="5532120" cy="114300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63640" y="49834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8A999"/>
                </a:solidFill>
                <a:latin typeface="Calibri"/>
              </a:rPr>
              <a:t>3  PORTFOLIO IMPACT  ·  issuer credit event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5285232"/>
            <a:ext cx="5212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05260"/>
                </a:solidFill>
                <a:latin typeface="Calibri"/>
              </a:rPr>
              <a:t>-$12.47m (-1.22%)</a:t>
            </a:r>
            <a:r>
              <a:rPr sz="1200" b="0" i="0">
                <a:solidFill>
                  <a:srgbClr val="94A3B8"/>
                </a:solidFill>
                <a:latin typeface="Calibri"/>
              </a:rPr>
              <a:t>   on $1.02bn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Calibri"/>
              </a:rPr>
              <a:t>worst hits: Meridian Shipping bond, loan, equity  ·  CDS hedge +$3.26m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F7CFF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3F6FC"/>
                </a:solidFill>
                <a:latin typeface="Calibri"/>
              </a:rPr>
              <a:t>System design: modular, offline, one engine everywhere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RiskPulse AI  ·  S&amp;P Global &amp; Crisil Campus Hackathon 2026  · 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4F7CFF"/>
                </a:solidFill>
                <a:latin typeface="Calibri"/>
              </a:rPr>
              <a:t>SIGNAL PATH  ·  AI/NLP risk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2011680" cy="132588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3F6FC"/>
                </a:solidFill>
                <a:latin typeface="Calibri"/>
              </a:rPr>
              <a:t>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737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Calibri"/>
              </a:rPr>
              <a:t>News + social CSV / JSON
upload · RSS (optional)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627632"/>
            <a:ext cx="2011680" cy="132588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4F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926079" y="175564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3F6FC"/>
                </a:solidFill>
                <a:latin typeface="Calibri"/>
              </a:rPr>
              <a:t>Ingestion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79" y="2103120"/>
            <a:ext cx="1737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Calibri"/>
              </a:rPr>
              <a:t>validate · normalise UTC
de-duplicate · stable IDs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627632"/>
            <a:ext cx="2011680" cy="132588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4F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66360" y="175564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3F6FC"/>
                </a:solidFill>
                <a:latin typeface="Calibri"/>
              </a:rPr>
              <a:t>NLP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103120"/>
            <a:ext cx="1737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Calibri"/>
              </a:rPr>
              <a:t>entities · sentiment
event type · impact 1-10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1627632"/>
            <a:ext cx="2011680" cy="132588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F4B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406640" y="175564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4B942"/>
                </a:solidFill>
                <a:latin typeface="Calibri"/>
              </a:rPr>
              <a:t>Risk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103120"/>
            <a:ext cx="1737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Calibri"/>
              </a:rPr>
              <a:t>validated schema
+ plain-English reason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1627632"/>
            <a:ext cx="2011680" cy="132588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18A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46920" y="175564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3F6FC"/>
                </a:solidFill>
                <a:latin typeface="Calibri"/>
              </a:rPr>
              <a:t>Consumers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920" y="2103120"/>
            <a:ext cx="1737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Calibri"/>
              </a:rPr>
              <a:t>6-page dashboard
REST API · JSON / CSV / HTML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578608" y="2290572"/>
            <a:ext cx="192024" cy="0"/>
          </a:xfrm>
          <a:prstGeom prst="line">
            <a:avLst/>
          </a:prstGeom>
          <a:ln w="22225">
            <a:solidFill>
              <a:srgbClr val="4F7C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818888" y="2290572"/>
            <a:ext cx="192024" cy="0"/>
          </a:xfrm>
          <a:prstGeom prst="line">
            <a:avLst/>
          </a:prstGeom>
          <a:ln w="22225">
            <a:solidFill>
              <a:srgbClr val="4F7C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59168" y="2290572"/>
            <a:ext cx="192024" cy="0"/>
          </a:xfrm>
          <a:prstGeom prst="line">
            <a:avLst/>
          </a:prstGeom>
          <a:ln w="22225">
            <a:solidFill>
              <a:srgbClr val="4F7C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299448" y="2290572"/>
            <a:ext cx="192024" cy="0"/>
          </a:xfrm>
          <a:prstGeom prst="line">
            <a:avLst/>
          </a:prstGeom>
          <a:ln w="22225">
            <a:solidFill>
              <a:srgbClr val="4F7C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346557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8A999"/>
                </a:solidFill>
                <a:latin typeface="Calibri"/>
              </a:rPr>
              <a:t>STRESS PATH  ·  Module B portfolio stress testing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767328"/>
            <a:ext cx="2011680" cy="132588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18A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85800" y="3895344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3F6FC"/>
                </a:solidFill>
                <a:latin typeface="Calibri"/>
              </a:rPr>
              <a:t>Synthetic portfolio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242816"/>
            <a:ext cx="1737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Calibri"/>
              </a:rPr>
              <a:t>37 positions · ~$1.02bn
loans, bonds, equity, FX, derivs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0" y="3767328"/>
            <a:ext cx="2011680" cy="132588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18A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166360" y="3895344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3F6FC"/>
                </a:solidFill>
                <a:latin typeface="Calibri"/>
              </a:rPr>
              <a:t>Trigger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66360" y="4242816"/>
            <a:ext cx="1737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Calibri"/>
              </a:rPr>
              <a:t>impact &gt; 7 (configurable)
event type -&gt; scenario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69480" y="3767328"/>
            <a:ext cx="2011680" cy="132588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18A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406640" y="3895344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3F6FC"/>
                </a:solidFill>
                <a:latin typeface="Calibri"/>
              </a:rPr>
              <a:t>Scenario library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4242816"/>
            <a:ext cx="1737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Calibri"/>
              </a:rPr>
              <a:t>10 scenarios in YAML
rates, spreads, FX, PD, oil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60" y="3767328"/>
            <a:ext cx="2011680" cy="132588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18A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646920" y="3895344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3F6FC"/>
                </a:solidFill>
                <a:latin typeface="Calibri"/>
              </a:rPr>
              <a:t>Factor P&amp;L engine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4242816"/>
            <a:ext cx="1737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Calibri"/>
              </a:rPr>
              <a:t>duration · beta · delta
PD x LGD · liquidity haircut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275320" y="2953512"/>
            <a:ext cx="0" cy="356616"/>
          </a:xfrm>
          <a:prstGeom prst="line">
            <a:avLst/>
          </a:prstGeom>
          <a:ln w="22225">
            <a:solidFill>
              <a:srgbClr val="18A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6035040" y="3310128"/>
            <a:ext cx="2240280" cy="0"/>
          </a:xfrm>
          <a:prstGeom prst="line">
            <a:avLst/>
          </a:prstGeom>
          <a:ln w="22225">
            <a:solidFill>
              <a:srgbClr val="18A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035040" y="3310128"/>
            <a:ext cx="0" cy="438912"/>
          </a:xfrm>
          <a:prstGeom prst="line">
            <a:avLst/>
          </a:prstGeom>
          <a:ln w="22225">
            <a:solidFill>
              <a:srgbClr val="18A99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172200" y="3346704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18A999"/>
                </a:solidFill>
                <a:latin typeface="Calibri"/>
              </a:rPr>
              <a:t>impact &gt; 7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59168" y="4430268"/>
            <a:ext cx="192024" cy="0"/>
          </a:xfrm>
          <a:prstGeom prst="line">
            <a:avLst/>
          </a:prstGeom>
          <a:ln w="22225">
            <a:solidFill>
              <a:srgbClr val="18A99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299448" y="4430268"/>
            <a:ext cx="192024" cy="0"/>
          </a:xfrm>
          <a:prstGeom prst="line">
            <a:avLst/>
          </a:prstGeom>
          <a:ln w="22225">
            <a:solidFill>
              <a:srgbClr val="18A99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0515600" y="2971800"/>
            <a:ext cx="0" cy="777240"/>
          </a:xfrm>
          <a:prstGeom prst="line">
            <a:avLst/>
          </a:prstGeom>
          <a:ln w="22225">
            <a:solidFill>
              <a:srgbClr val="18A99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554480" y="5093208"/>
            <a:ext cx="0" cy="274320"/>
          </a:xfrm>
          <a:prstGeom prst="line">
            <a:avLst/>
          </a:prstGeom>
          <a:ln w="22225">
            <a:solidFill>
              <a:srgbClr val="18A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554480" y="5367528"/>
            <a:ext cx="8961120" cy="0"/>
          </a:xfrm>
          <a:prstGeom prst="line">
            <a:avLst/>
          </a:prstGeom>
          <a:ln w="22225">
            <a:solidFill>
              <a:srgbClr val="18A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0515600" y="5111496"/>
            <a:ext cx="0" cy="256032"/>
          </a:xfrm>
          <a:prstGeom prst="line">
            <a:avLst/>
          </a:prstGeom>
          <a:ln w="22225">
            <a:solidFill>
              <a:srgbClr val="18A99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548640" y="5760720"/>
            <a:ext cx="1161288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94A3B8"/>
                </a:solidFill>
                <a:latin typeface="Calibri"/>
              </a:rPr>
              <a:t>Python 3.11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787652" y="5760720"/>
            <a:ext cx="1161288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94A3B8"/>
                </a:solidFill>
                <a:latin typeface="Calibri"/>
              </a:rPr>
              <a:t>pandas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026664" y="5760720"/>
            <a:ext cx="1161288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94A3B8"/>
                </a:solidFill>
                <a:latin typeface="Calibri"/>
              </a:rPr>
              <a:t>scikit-learn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65675" y="5760720"/>
            <a:ext cx="1161288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94A3B8"/>
                </a:solidFill>
                <a:latin typeface="Calibri"/>
              </a:rPr>
              <a:t>VADER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504688" y="5760720"/>
            <a:ext cx="1161288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94A3B8"/>
                </a:solidFill>
                <a:latin typeface="Calibri"/>
              </a:rPr>
              <a:t>Pydantic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743700" y="5760720"/>
            <a:ext cx="1161288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94A3B8"/>
                </a:solidFill>
                <a:latin typeface="Calibri"/>
              </a:rPr>
              <a:t>FastAPI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82711" y="5760720"/>
            <a:ext cx="1161288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94A3B8"/>
                </a:solidFill>
                <a:latin typeface="Calibri"/>
              </a:rPr>
              <a:t>Streamlit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21724" y="5760720"/>
            <a:ext cx="1161288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94A3B8"/>
                </a:solidFill>
                <a:latin typeface="Calibri"/>
              </a:rPr>
              <a:t>Plotly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60736" y="5760720"/>
            <a:ext cx="1161288" cy="292608"/>
          </a:xfrm>
          <a:prstGeom prst="roundRect">
            <a:avLst>
              <a:gd name="adj" fmla="val 50000"/>
            </a:avLst>
          </a:prstGeom>
          <a:solidFill>
            <a:srgbClr val="111B2E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50" b="1">
                <a:solidFill>
                  <a:srgbClr val="94A3B8"/>
                </a:solidFill>
                <a:latin typeface="Calibri"/>
              </a:rPr>
              <a:t>pytest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88920" y="3931920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94A3B8"/>
                </a:solidFill>
                <a:latin typeface="Calibri"/>
              </a:rPr>
              <a:t>Dashboard, API, CLI and reports call the same modules, so shown and exported numbers always agree.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F7CFF"/>
                </a:solidFill>
                <a:latin typeface="Calibri"/>
              </a:rPr>
              <a:t>RISK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3F6FC"/>
                </a:solidFill>
                <a:latin typeface="Calibri"/>
              </a:rPr>
              <a:t>AI/NLP risk intelligence with a reason for every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RiskPulse AI  ·  S&amp;P Global &amp; Crisil Campus Hackathon 2026  · 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4 /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31520" y="1737360"/>
            <a:ext cx="457200" cy="457200"/>
          </a:xfrm>
          <a:prstGeom prst="ellipse">
            <a:avLst/>
          </a:prstGeom>
          <a:solidFill>
            <a:srgbClr val="4F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22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72768"/>
            <a:ext cx="4434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3F6FC"/>
                </a:solidFill>
                <a:latin typeface="Calibri"/>
              </a:rPr>
              <a:t>Sentiment  -1 to +1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4434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VADER + 116-term finance lexicon, phrase rules, hedge dampening; company names masked. 57.5% -&gt; 70.4% accuracy vs naive VADER.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51760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31520" y="2926080"/>
            <a:ext cx="457200" cy="457200"/>
          </a:xfrm>
          <a:prstGeom prst="ellipse">
            <a:avLst/>
          </a:prstGeom>
          <a:solidFill>
            <a:srgbClr val="4F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220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761488"/>
            <a:ext cx="4434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3F6FC"/>
                </a:solidFill>
                <a:latin typeface="Calibri"/>
              </a:rPr>
              <a:t>Event classification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063240"/>
            <a:ext cx="4434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Keyword rules (auditable evidence) + TF-IDF logistic regression over 10 categories; weak evidence -&gt; 'Unclassified', close calls flagged ambiguous.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F4B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220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950208"/>
            <a:ext cx="4434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3F6FC"/>
                </a:solidFill>
                <a:latin typeface="Calibri"/>
              </a:rPr>
              <a:t>Impact score  1 to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60"/>
            <a:ext cx="4434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Base severity + intensity + breadth + portfolio exposure + tone - uncertainty - source reliability. Impact is severity, not confidence.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29200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31520" y="5303520"/>
            <a:ext cx="457200" cy="457200"/>
          </a:xfrm>
          <a:prstGeom prst="ellipse">
            <a:avLst/>
          </a:prstGeom>
          <a:solidFill>
            <a:srgbClr val="18A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220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138928"/>
            <a:ext cx="4434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3F6FC"/>
                </a:solidFill>
                <a:latin typeface="Calibri"/>
              </a:rPr>
              <a:t>Explanation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440680"/>
            <a:ext cx="4434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Every signal carries keywords, sentiment drivers, entity exposure and the arithmetic behind its impact score.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463040"/>
            <a:ext cx="5349240" cy="461772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F4B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2240" y="1600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4B942"/>
                </a:solidFill>
                <a:latin typeface="Calibri"/>
              </a:rPr>
              <a:t>GENUINE OUTPUT - news record from data/news_sample.csv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901952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1">
                <a:solidFill>
                  <a:srgbClr val="F3F6FC"/>
                </a:solidFill>
                <a:latin typeface="Calibri"/>
              </a:rPr>
              <a:t>“Meridian Shipping missed a coupon payment on its senior bonds. Rating agency downgrades Meridian Shipping to CCC and places it on negative watch ...”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85292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4A3B8"/>
                </a:solidFill>
                <a:latin typeface="Calibri"/>
              </a:rPr>
              <a:t>Entity / ticker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285292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3F6FC"/>
                </a:solidFill>
                <a:latin typeface="Calibri"/>
              </a:rPr>
              <a:t>Meridian Shipping (MRDS)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21868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4A3B8"/>
                </a:solidFill>
                <a:latin typeface="Calibri"/>
              </a:rPr>
              <a:t>Event type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321868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3F6FC"/>
                </a:solidFill>
                <a:latin typeface="Calibri"/>
              </a:rPr>
              <a:t>Credit Event  (confidence 1.00)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58444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4A3B8"/>
                </a:solidFill>
                <a:latin typeface="Calibri"/>
              </a:rPr>
              <a:t>Sentiment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58444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05260"/>
                </a:solidFill>
                <a:latin typeface="Calibri"/>
              </a:rPr>
              <a:t>-1.00  Negative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95020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4A3B8"/>
                </a:solidFill>
                <a:latin typeface="Calibri"/>
              </a:rPr>
              <a:t>Impact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395020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05260"/>
                </a:solidFill>
                <a:latin typeface="Calibri"/>
              </a:rPr>
              <a:t>9 / 10   -&gt;   stress trigger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31596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4A3B8"/>
                </a:solidFill>
                <a:latin typeface="Calibri"/>
              </a:rPr>
              <a:t>Source / 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431596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3F6FC"/>
                </a:solidFill>
                <a:latin typeface="Calibri"/>
              </a:rPr>
              <a:t>news · 2026-10-01 13:40 UTC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6817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3F6FC"/>
                </a:solidFill>
                <a:latin typeface="Calibri"/>
              </a:rPr>
              <a:t>Why impact = 9  (raw 9.3, rounded)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92240" y="5029200"/>
            <a:ext cx="2971800" cy="274320"/>
          </a:xfrm>
          <a:prstGeom prst="rect">
            <a:avLst/>
          </a:prstGeom>
          <a:solidFill>
            <a:srgbClr val="3C5A99"/>
          </a:solidFill>
          <a:ln>
            <a:solidFill>
              <a:srgbClr val="18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64040" y="5029200"/>
            <a:ext cx="228600" cy="274320"/>
          </a:xfrm>
          <a:prstGeom prst="rect">
            <a:avLst/>
          </a:prstGeom>
          <a:solidFill>
            <a:srgbClr val="F4B942"/>
          </a:solidFill>
          <a:ln>
            <a:solidFill>
              <a:srgbClr val="18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92640" y="5029200"/>
            <a:ext cx="382676" cy="274320"/>
          </a:xfrm>
          <a:prstGeom prst="rect">
            <a:avLst/>
          </a:prstGeom>
          <a:solidFill>
            <a:srgbClr val="18A999"/>
          </a:solidFill>
          <a:ln>
            <a:solidFill>
              <a:srgbClr val="18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75316" y="5029200"/>
            <a:ext cx="685800" cy="274320"/>
          </a:xfrm>
          <a:prstGeom prst="rect">
            <a:avLst/>
          </a:prstGeom>
          <a:solidFill>
            <a:srgbClr val="F05260"/>
          </a:solidFill>
          <a:ln>
            <a:solidFill>
              <a:srgbClr val="18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9692640" y="4956048"/>
            <a:ext cx="0" cy="420624"/>
          </a:xfrm>
          <a:prstGeom prst="line">
            <a:avLst/>
          </a:prstGeom>
          <a:ln w="22225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92240" y="541324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FA0E6"/>
                </a:solidFill>
                <a:latin typeface="Calibri"/>
              </a:rPr>
              <a:t>base 6.5</a:t>
            </a:r>
            <a:r>
              <a:rPr sz="1100" b="1" i="0">
                <a:solidFill>
                  <a:srgbClr val="F4B942"/>
                </a:solidFill>
                <a:latin typeface="Calibri"/>
              </a:rPr>
              <a:t>  +  intensity 0.5</a:t>
            </a:r>
            <a:r>
              <a:rPr sz="1100" b="1" i="0">
                <a:solidFill>
                  <a:srgbClr val="18A999"/>
                </a:solidFill>
                <a:latin typeface="Calibri"/>
              </a:rPr>
              <a:t>  +  exposure 0.8</a:t>
            </a:r>
            <a:r>
              <a:rPr sz="1100" b="1" i="0">
                <a:solidFill>
                  <a:srgbClr val="F05260"/>
                </a:solidFill>
                <a:latin typeface="Calibri"/>
              </a:rPr>
              <a:t>  +  tone 1.5</a:t>
            </a:r>
            <a:r>
              <a:rPr sz="1100" b="1" i="0">
                <a:solidFill>
                  <a:srgbClr val="F3F6FC"/>
                </a:solidFill>
                <a:latin typeface="Calibri"/>
              </a:rPr>
              <a:t>  =  9.3</a:t>
            </a:r>
            <a:r>
              <a:rPr sz="1000" b="0" i="0">
                <a:solidFill>
                  <a:srgbClr val="F4B942"/>
                </a:solidFill>
                <a:latin typeface="Calibri"/>
              </a:rPr>
              <a:t>     | marker = trigger &gt; 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5760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4F7CFF"/>
                </a:solidFill>
                <a:latin typeface="Calibri"/>
              </a:rPr>
              <a:t>Keywords: default, downgrades, missed a coupon, restructuring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F7CFF"/>
                </a:solidFill>
                <a:latin typeface="Calibri"/>
              </a:rPr>
              <a:t>MODULE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3F6FC"/>
                </a:solidFill>
                <a:latin typeface="Calibri"/>
              </a:rPr>
              <a:t>Event-driven portfolio stress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RiskPulse AI  ·  S&amp;P Global &amp; Crisil Campus Hackathon 2026  · 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8A999"/>
                </a:solidFill>
                <a:latin typeface="Calibri"/>
              </a:rPr>
              <a:t>Auto-triggered: Market / Liquidity signal (impact 10 &gt; 7) -&gt; scenario 'Market / liquidity stress', severity scale 1.25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1828800" cy="114300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197510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Calibri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4028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3F6FC"/>
                </a:solidFill>
                <a:latin typeface="Calibri"/>
              </a:rPr>
              <a:t>$1.02bn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14600" y="1828800"/>
            <a:ext cx="1828800" cy="114300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715768" y="197510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Calibri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5768" y="224028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3F6FC"/>
                </a:solidFill>
                <a:latin typeface="Calibri"/>
              </a:rPr>
              <a:t>$990.41m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828800"/>
            <a:ext cx="1828800" cy="114300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81728" y="197510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Calibri"/>
              </a:rPr>
              <a:t>P&amp;L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24028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05260"/>
                </a:solidFill>
                <a:latin typeface="Calibri"/>
              </a:rPr>
              <a:t>-$28.69m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1828800"/>
            <a:ext cx="1600200" cy="114300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47688" y="19751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Calibri"/>
              </a:rPr>
              <a:t>P&amp;L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7688" y="2240280"/>
            <a:ext cx="1234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05260"/>
                </a:solidFill>
                <a:latin typeface="Calibri"/>
              </a:rPr>
              <a:t>-2.81%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02920" y="3108960"/>
          <a:ext cx="758952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8321040" y="1828800"/>
            <a:ext cx="3291840" cy="429768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03920" y="19659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3F6FC"/>
                </a:solidFill>
                <a:latin typeface="Calibri"/>
              </a:rPr>
              <a:t>Assumptions (explicit)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377440"/>
            <a:ext cx="3017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•  Rates -50 bp (flight to quality)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•  Equities -18.8% x beta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•  Spreads +125 bp BBB / +312.5 bp HY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•  Loan PD x1.25, LGD +3.8 pp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•  Liquidity haircut after market moves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•  Bonds: -ModDur x dy (bp / 10,000)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•  Derivatives: delta / DV01 approximations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8006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3F6FC"/>
                </a:solidFill>
                <a:latin typeface="Calibri"/>
              </a:rPr>
              <a:t>Second example (entity-specific)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07492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MRDS credit event: -$12.47m (-1.22%); CDS hedge offsets $3.26m. Totals reconcile to the cent.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F7CFF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3F6FC"/>
                </a:solidFill>
                <a:latin typeface="Calibri"/>
              </a:rPr>
              <a:t>Results, validation and domain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RiskPulse AI  ·  S&amp;P Global &amp; Crisil Campus Hackathon 2026  · 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6 /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2057400" cy="118872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9808" y="156362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Calibri"/>
              </a:rPr>
              <a:t>AUTOMATED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828800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22C55E"/>
                </a:solidFill>
                <a:latin typeface="Calibri"/>
              </a:rPr>
              <a:t>93 / 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2199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ingestion, NLP, maths, API,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417320"/>
            <a:ext cx="2057400" cy="118872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944368" y="156362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Calibri"/>
              </a:rPr>
              <a:t>RECORDS INGESTED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828800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3F6FC"/>
                </a:solidFill>
                <a:latin typeface="Calibri"/>
              </a:rPr>
              <a:t>266 -&gt; 254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222199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12 duplicates removed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417320"/>
            <a:ext cx="2057400" cy="118872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38928" y="156362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Calibri"/>
              </a:rPr>
              <a:t>GROUPED CV MACRO-F1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1828800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3F6FC"/>
                </a:solidFill>
                <a:latin typeface="Calibri"/>
              </a:rPr>
              <a:t>0.976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8" y="222199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held-out templates (optimistic)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1417320"/>
            <a:ext cx="2057400" cy="118872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33488" y="156362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Calibri"/>
              </a:rPr>
              <a:t>TEXT -&gt;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1828800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4F7CFF"/>
                </a:solidFill>
                <a:latin typeface="Calibri"/>
              </a:rPr>
              <a:t>0.5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222199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254 records, laptop CPU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502920" y="2788920"/>
          <a:ext cx="4297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892040" y="2788920"/>
          <a:ext cx="42976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9372600" y="1417320"/>
            <a:ext cx="2240280" cy="466344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2B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555480" y="1554480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3F6FC"/>
                </a:solidFill>
                <a:latin typeface="Calibri"/>
              </a:rPr>
              <a:t>Why it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1965960"/>
            <a:ext cx="1920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•  Early warning: minutes from headline to quantified exposure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•  Explainable scores an analyst can audit and challenge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•  Links NLP output directly to portfolio P&amp;L by asset class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•  API + CSV/JSON feed limits, alerts and credit reviews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45720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F05260"/>
                </a:solidFill>
                <a:latin typeface="Calibri"/>
              </a:rPr>
              <a:t>22%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516636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4A3B8"/>
                </a:solidFill>
                <a:latin typeface="Calibri"/>
              </a:rPr>
              <a:t>of signals (56 of 254) exceed the trigger - analysts review these first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089904"/>
            <a:ext cx="8595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F4B942"/>
                </a:solidFill>
                <a:latin typeface="Calibri"/>
              </a:rPr>
              <a:t>All metrics measured on synthetic data by scripts/evaluate_model.py; they show the pipeline works, not real-market predictive power.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F7CFF"/>
                </a:solidFill>
                <a:latin typeface="Calibri"/>
              </a:rPr>
              <a:t>HONEST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3F6FC"/>
                </a:solidFill>
                <a:latin typeface="Calibri"/>
              </a:rPr>
              <a:t>Limitations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RiskPulse AI  ·  S&amp;P Global &amp; Crisil Campus Hackathon 2026  · 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7 /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440680" cy="352044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F4B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4B942"/>
                </a:solidFill>
                <a:latin typeface="Calibri"/>
              </a:rPr>
              <a:t>What remains unvalidated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49834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F3F6FC"/>
                </a:solidFill>
                <a:latin typeface="Calibri"/>
              </a:rPr>
              <a:t>•  Synthetic, template-generated text; no real-market labels or price reaction data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F3F6FC"/>
                </a:solidFill>
                <a:latin typeface="Calibri"/>
              </a:rPr>
              <a:t>•  Baseline classifier generalises poorly to unseen phrasing (23% on paraphrases)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F3F6FC"/>
                </a:solidFill>
                <a:latin typeface="Calibri"/>
              </a:rPr>
              <a:t>•  Impact weights and scenario shocks are expert-set, not calibrated to history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F3F6FC"/>
                </a:solidFill>
                <a:latin typeface="Calibri"/>
              </a:rPr>
              <a:t>•  First-order stress maths: no convexity, gamma/vega or full loan revaluation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F3F6FC"/>
                </a:solidFill>
                <a:latin typeface="Calibri"/>
              </a:rPr>
              <a:t>•  Dictionary entity linking over a fixed fictional universe; one primary entity per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394960" cy="3520440"/>
          </a:xfrm>
          <a:prstGeom prst="roundRect">
            <a:avLst>
              <a:gd name="adj" fmla="val 6000"/>
            </a:avLst>
          </a:prstGeom>
          <a:solidFill>
            <a:srgbClr val="18263B"/>
          </a:solidFill>
          <a:ln w="12700">
            <a:solidFill>
              <a:srgbClr val="18A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162763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8A999"/>
                </a:solidFill>
                <a:latin typeface="Calibri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148840"/>
            <a:ext cx="49377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F3F6FC"/>
                </a:solidFill>
                <a:latin typeface="Calibri"/>
              </a:rPr>
              <a:t>•  Label real public news (with licences) and calibrate impact against market moves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F3F6FC"/>
                </a:solidFill>
                <a:latin typeface="Calibri"/>
              </a:rPr>
              <a:t>•  Fine-tune FinBERT / a small LLM for events; keep rules as an audit layer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F3F6FC"/>
                </a:solidFill>
                <a:latin typeface="Calibri"/>
              </a:rPr>
              <a:t>•  Historical scenario library (2008, 2020, 2022 rates) and full repricing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F3F6FC"/>
                </a:solidFill>
                <a:latin typeface="Calibri"/>
              </a:rPr>
              <a:t>•  Streaming ingestion (Kafka) with alerting and analyst feedback loop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F3F6FC"/>
                </a:solidFill>
                <a:latin typeface="Calibri"/>
              </a:rPr>
              <a:t>•  Coreference + entity resolution against reference data (LEI / tickers)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4F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5321808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F7CFF"/>
                </a:solidFill>
                <a:latin typeface="Calibri"/>
              </a:rPr>
              <a:t>Benefit: </a:t>
            </a:r>
            <a:r>
              <a:rPr sz="1300" b="0" i="0">
                <a:solidFill>
                  <a:srgbClr val="F3F6FC"/>
                </a:solidFill>
                <a:latin typeface="Calibri"/>
              </a:rPr>
              <a:t>headline-to-P&amp;L in one explainable, offline workflow an analyst can audit.  </a:t>
            </a:r>
            <a:r>
              <a:rPr sz="1300" b="1" i="0">
                <a:solidFill>
                  <a:srgbClr val="F4B942"/>
                </a:solidFill>
                <a:latin typeface="Calibri"/>
              </a:rPr>
              <a:t>Key limitation: </a:t>
            </a:r>
            <a:r>
              <a:rPr sz="1300" b="0" i="0">
                <a:solidFill>
                  <a:srgbClr val="F3F6FC"/>
                </a:solidFill>
                <a:latin typeface="Calibri"/>
              </a:rPr>
              <a:t>validated on synthetic data only; real-market calibration is the next step.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