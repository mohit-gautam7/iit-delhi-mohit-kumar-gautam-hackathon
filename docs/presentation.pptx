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3F6FC"/>
                </a:solidFill>
                <a:latin typeface="Calibri"/>
              </a:rPr>
              <a:t>P&amp;L by risk factor (USD 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22C55E"/>
              </a:solidFill>
            </c:spPr>
          </c:dPt>
          <c:dPt>
            <c:idx val="1"/>
            <c:invertIfNegative val="0"/>
            <c:spPr>
              <a:solidFill>
                <a:srgbClr val="F05260"/>
              </a:solidFill>
            </c:spPr>
          </c:dPt>
          <c:dPt>
            <c:idx val="2"/>
            <c:invertIfNegative val="0"/>
            <c:spPr>
              <a:solidFill>
                <a:srgbClr val="F05260"/>
              </a:solidFill>
            </c:spPr>
          </c:dPt>
          <c:dPt>
            <c:idx val="3"/>
            <c:invertIfNegative val="0"/>
            <c:spPr>
              <a:solidFill>
                <a:srgbClr val="F05260"/>
              </a:solidFill>
            </c:spPr>
          </c:dPt>
          <c:dPt>
            <c:idx val="4"/>
            <c:invertIfNegative val="0"/>
            <c:spPr>
              <a:solidFill>
                <a:srgbClr val="F05260"/>
              </a:solidFill>
            </c:spPr>
          </c:dPt>
          <c:dPt>
            <c:idx val="5"/>
            <c:invertIfNegative val="0"/>
            <c:spPr>
              <a:solidFill>
                <a:srgbClr val="F05260"/>
              </a:solidFill>
            </c:spPr>
          </c:dPt>
          <c:dPt>
            <c:idx val="6"/>
            <c:invertIfNegative val="0"/>
            <c:spPr>
              <a:solidFill>
                <a:srgbClr val="F05260"/>
              </a:solidFill>
            </c:spPr>
          </c:dPt>
          <c:cat>
            <c:strRef>
              <c:f>Sheet1!$A$2:$A$8</c:f>
              <c:strCache>
                <c:ptCount val="7"/>
                <c:pt idx="0">
                  <c:v>Interest rates</c:v>
                </c:pt>
                <c:pt idx="1">
                  <c:v>Credit spreads</c:v>
                </c:pt>
                <c:pt idx="2">
                  <c:v>Equity prices</c:v>
                </c:pt>
                <c:pt idx="3">
                  <c:v>FX rates</c:v>
                </c:pt>
                <c:pt idx="4">
                  <c:v>Commodities</c:v>
                </c:pt>
                <c:pt idx="5">
                  <c:v>Expected credit loss</c:v>
                </c:pt>
                <c:pt idx="6">
                  <c:v>Liquidity haircut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9.02</c:v>
                </c:pt>
                <c:pt idx="1">
                  <c:v>-9.66</c:v>
                </c:pt>
                <c:pt idx="2">
                  <c:v>-14.12</c:v>
                </c:pt>
                <c:pt idx="3">
                  <c:v>-3.32</c:v>
                </c:pt>
                <c:pt idx="4">
                  <c:v>-1.5</c:v>
                </c:pt>
                <c:pt idx="5">
                  <c:v>-1.24</c:v>
                </c:pt>
                <c:pt idx="6">
                  <c:v>-7.87</c:v>
                </c:pt>
              </c:numCache>
            </c:numRef>
          </c:val>
        </c:ser>
        <c:dLbls>
          <c:numFmt formatCode="0.0;-0.0" sourceLinked="0"/>
          <c:txPr>
            <a:bodyPr/>
            <a:lstStyle/>
            <a:p>
              <a:pPr>
                <a:defRPr sz="1100">
                  <a:solidFill>
                    <a:srgbClr val="F3F6F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2B3A50"/>
            </a:solidFill>
          </a:ln>
        </c:spPr>
        <c:txPr>
          <a:bodyPr/>
          <a:lstStyle/>
          <a:p>
            <a:pPr>
              <a:defRPr sz="1100">
                <a:solidFill>
                  <a:srgbClr val="F3F6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-20.0"/>
        </c:scaling>
        <c:delete val="0"/>
        <c:axPos val="b"/>
        <c:majorGridlines>
          <c:spPr>
            <a:ln>
              <a:solidFill>
                <a:srgbClr val="2B3A50"/>
              </a:solidFill>
            </a:ln>
          </c:spPr>
        </c:majorGridlines>
        <c:numFmt formatCode="0.0;-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94A3B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3F6FC"/>
                </a:solidFill>
                <a:latin typeface="Calibri"/>
              </a:rPr>
              <a:t>Sentiment accuracy, % (628 labelled)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94A3B8"/>
              </a:solidFill>
            </c:spPr>
          </c:dPt>
          <c:dPt>
            <c:idx val="1"/>
            <c:invertIfNegative val="0"/>
            <c:spPr>
              <a:solidFill>
                <a:srgbClr val="4F7CFF"/>
              </a:solidFill>
            </c:spPr>
          </c:dPt>
          <c:dPt>
            <c:idx val="2"/>
            <c:invertIfNegative val="0"/>
            <c:spPr>
              <a:solidFill>
                <a:srgbClr val="18A999"/>
              </a:solidFill>
            </c:spPr>
          </c:dPt>
          <c:cat>
            <c:strRef>
              <c:f>Sheet1!$A$2:$A$4</c:f>
              <c:strCache>
                <c:ptCount val="3"/>
                <c:pt idx="0">
                  <c:v>Naive VADER</c:v>
                </c:pt>
                <c:pt idx="1">
                  <c:v>Finance VADER</c:v>
                </c:pt>
                <c:pt idx="2">
                  <c:v>FinBERT (opt.)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57.5</c:v>
                </c:pt>
                <c:pt idx="1">
                  <c:v>70.4</c:v>
                </c:pt>
                <c:pt idx="2">
                  <c:v>82.3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F3F6F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B3A50"/>
            </a:solidFill>
          </a:ln>
        </c:spPr>
        <c:txPr>
          <a:bodyPr/>
          <a:lstStyle/>
          <a:p>
            <a:pPr>
              <a:defRPr sz="1100">
                <a:solidFill>
                  <a:srgbClr val="F3F6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2B3A5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94A3B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3F6FC"/>
                </a:solidFill>
                <a:latin typeface="Calibri"/>
              </a:rPr>
              <a:t>Event accuracy on 44 unseen paraphrases,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4F7CFF"/>
              </a:solidFill>
            </c:spPr>
          </c:dPt>
          <c:dPt>
            <c:idx val="1"/>
            <c:invertIfNegative val="0"/>
            <c:spPr>
              <a:solidFill>
                <a:srgbClr val="18A999"/>
              </a:solidFill>
            </c:spPr>
          </c:dPt>
          <c:cat>
            <c:strRef>
              <c:f>Sheet1!$A$2:$A$3</c:f>
              <c:strCache>
                <c:ptCount val="2"/>
                <c:pt idx="0">
                  <c:v>Hybrid baseline</c:v>
                </c:pt>
                <c:pt idx="1">
                  <c:v>+ zero-shot (opt.)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22.7</c:v>
                </c:pt>
                <c:pt idx="1">
                  <c:v>68.2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F3F6F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B3A50"/>
            </a:solidFill>
          </a:ln>
        </c:spPr>
        <c:txPr>
          <a:bodyPr/>
          <a:lstStyle/>
          <a:p>
            <a:pPr>
              <a:defRPr sz="1100">
                <a:solidFill>
                  <a:srgbClr val="F3F6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2B3A5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94A3B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RiskPulse AI turns news and social text into structured, explainable risk signals and shows what a high-impact event would do to a wholesale-banking portfolio. Everything runs offline on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pain points: volume, ambiguity (tone vs impact) and the gap between text and P&amp;L. Our pipeline ingests, understands, scores and stresses, with an explanation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diagram left to right: sources, ingestion, NLP, signal, stress,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example: how event, sentiment, entity and impact are 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trigger, scenario mapping, the factor waterfall and the CDS hedge.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synthetic evaluation, honest challenge set, engineering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benefit and the main limitation: synthetic validation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RiskPulse AI  ·  S&amp;P Global &amp; Crisil Campus Hackathon 2026  · 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 / 7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2296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74519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3F6FC"/>
                </a:solidFill>
                <a:latin typeface="Calibri"/>
              </a:rPr>
              <a:t>RiskPulse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4F7CFF"/>
                </a:solidFill>
                <a:latin typeface="Calibri"/>
              </a:rPr>
              <a:t>Intelligent Financial Risk &amp; Portfolio Stress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94A3B8"/>
                </a:solidFill>
                <a:latin typeface="Calibri"/>
              </a:rPr>
              <a:t>From unstructured information to actionable financial risk intelligence.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F6FC"/>
                </a:solidFill>
                <a:latin typeface="Calibri"/>
              </a:rPr>
              <a:t>S&amp;P Global &amp; Crisil Campus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834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F6FC"/>
                </a:solidFill>
                <a:latin typeface="Calibri"/>
              </a:rPr>
              <a:t>Mohit Kumar Gautam  ·  IIT Delhi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6235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4F7CFF"/>
                </a:solidFill>
                <a:latin typeface="Calibri"/>
              </a:rPr>
              <a:t>AI/NLP risk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6235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2700">
            <a:solidFill>
              <a:srgbClr val="18A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18A999"/>
                </a:solidFill>
                <a:latin typeface="Calibri"/>
              </a:rPr>
              <a:t>Module B: stress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6235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2700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4B942"/>
                </a:solidFill>
                <a:latin typeface="Calibri"/>
              </a:rPr>
              <a:t>Offline · explainable</a:t>
            </a:r>
          </a:p>
        </p:txBody>
      </p:sp>
      <p:pic>
        <p:nvPicPr>
          <p:cNvPr id="13" name="Picture 12" descr="overview_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43000"/>
            <a:ext cx="4526280" cy="2828925"/>
          </a:xfrm>
          <a:prstGeom prst="rect">
            <a:avLst/>
          </a:prstGeom>
          <a:ln w="12700">
            <a:solidFill>
              <a:srgbClr val="2B3A5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086600" y="406908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Executive Risk Overview - live dashboard (synthetic data)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448056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87768" y="46268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89204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3F6FC"/>
                </a:solidFill>
                <a:latin typeface="Calibri"/>
              </a:rPr>
              <a:t>254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48056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42248" y="46268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HIGH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489204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05260"/>
                </a:solidFill>
                <a:latin typeface="Calibri"/>
              </a:rPr>
              <a:t>56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448056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396728" y="46268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TESTS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6728" y="489204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2C55E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7CFF"/>
                </a:solidFill>
                <a:latin typeface="Calibri"/>
              </a:rPr>
              <a:t>PROBLEM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F6FC"/>
                </a:solidFill>
                <a:latin typeface="Calibri"/>
              </a:rPr>
              <a:t>Turning noisy text into risk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RiskPulse AI  ·  S&amp;P Global &amp; Crisil Campus Hackathon 2026  · 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2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F6FC"/>
                </a:solidFill>
                <a:latin typeface="Calibri"/>
              </a:rPr>
              <a:t>The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F0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2199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42032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Risk-relevant news and posts arrive faster than analysts can read them.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474720"/>
            <a:ext cx="457200" cy="457200"/>
          </a:xfrm>
          <a:prstGeom prst="ellipse">
            <a:avLst/>
          </a:prstGeom>
          <a:solidFill>
            <a:srgbClr val="F0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5643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Ambiguity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76472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Tone is not impact: a negative tweet about a logo is noise; a missed coupon is not.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09160"/>
            <a:ext cx="457200" cy="457200"/>
          </a:xfrm>
          <a:prstGeom prst="ellipse">
            <a:avLst/>
          </a:prstGeom>
          <a:solidFill>
            <a:srgbClr val="F0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69087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Disconnect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010912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Text insight rarely reaches portfolio numbers: what does this event cost us?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F6FC"/>
                </a:solidFill>
                <a:latin typeface="Calibri"/>
              </a:rPr>
              <a:t>Our approach: one explainable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011680"/>
            <a:ext cx="5532120" cy="841248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263640" y="2203704"/>
            <a:ext cx="457200" cy="457200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1226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4231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News + social adapters, validation, dedupe, stable 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990088"/>
            <a:ext cx="5532120" cy="841248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263640" y="3182112"/>
            <a:ext cx="457200" cy="457200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09067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Understand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40156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Entities &amp; tickers, finance-tuned sentiment, 10 event types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968496"/>
            <a:ext cx="5532120" cy="841248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263640" y="4160520"/>
            <a:ext cx="457200" cy="45720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0690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37997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Impact 1-10 from transparent, configurable factors + explanation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4946904"/>
            <a:ext cx="5532120" cy="841248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263640" y="5138928"/>
            <a:ext cx="457200" cy="457200"/>
          </a:xfrm>
          <a:prstGeom prst="ellipse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04748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Stress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35838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Impact &gt; 7 auto-selects a scenario and revalues a 37-position 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94360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8A999"/>
                </a:solidFill>
                <a:latin typeface="Calibri"/>
              </a:rPr>
              <a:t>Outputs: dashboard · REST API · JSON / CSV · printable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7CF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F6FC"/>
                </a:solidFill>
                <a:latin typeface="Calibri"/>
              </a:rPr>
              <a:t>System design: modular, offline, one engine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RiskPulse AI  ·  S&amp;P Global &amp; Crisil Campus Hackathon 2026  · 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3 / 7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183879" cy="4603432"/>
          </a:xfrm>
          <a:prstGeom prst="rect">
            <a:avLst/>
          </a:prstGeom>
          <a:ln w="12700">
            <a:solidFill>
              <a:srgbClr val="2B3A50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96112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0" y="15361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F6FC"/>
                </a:solidFill>
                <a:latin typeface="Calibri"/>
              </a:rPr>
              <a:t>Tech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Python 3.11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pandas,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4963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scikit-learn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TF-IDF + 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8094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VADER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+ finance lexicon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4655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Pydantic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validated signal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02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FastAPI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REST for downstream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434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Streamlit + Plotly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6-page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9194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PyYAML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editable scenarios &amp;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40410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Optional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FinBERT, BART-MNLI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533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Dashboard, API, CLI and reports call the same riskpulse modules: displayed and exported numbers always agree.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7CFF"/>
                </a:solidFill>
                <a:latin typeface="Calibri"/>
              </a:rPr>
              <a:t>RISK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F6FC"/>
                </a:solidFill>
                <a:latin typeface="Calibri"/>
              </a:rPr>
              <a:t>AI/NLP risk intelligence with a reason for every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RiskPulse AI  ·  S&amp;P Global &amp; Crisil Campus Hackathon 2026  · 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4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7276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Sentiment  -1 to +1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VADER + 116-term finance lexicon, phrase rules, hedge dampening; company names masked. 57.5% -&gt; 70.4% accuracy vs naive VADER.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6148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Event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6324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Keyword rules (auditable evidence) + TF-IDF logistic regression over 10 categories; weak evidence -&gt; 'Unclassified', close calls flagged ambiguous.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5020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Impact score  1 to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5196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Base severity + intensity + breadth + portfolio exposure + tone - uncertainty - source reliability. Impact is severity, not confidence.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2920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3892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4068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Every signal carries keywords, sentiment drivers, entity exposure and the arithmetic behind its impact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63040"/>
            <a:ext cx="5349240" cy="461772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2240" y="1600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4B942"/>
                </a:solidFill>
                <a:latin typeface="Calibri"/>
              </a:rPr>
              <a:t>GENUINE OUTPUT - news record from data/news_sample.csv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01952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F3F6FC"/>
                </a:solidFill>
                <a:latin typeface="Calibri"/>
              </a:rPr>
              <a:t>“Meridian Shipping missed a coupon payment on its senior bonds. Rating agency downgrades Meridian Shipping to CCC and places it on negative watch ...”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5292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Entity / ticker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8529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Meridian Shipping (MRDS)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1868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Event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21868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Credit Event  (confidence 1.00)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8444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Sentiment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58444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05260"/>
                </a:solidFill>
                <a:latin typeface="Calibri"/>
              </a:rPr>
              <a:t>-1.00  Negative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5020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9502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05260"/>
                </a:solidFill>
                <a:latin typeface="Calibri"/>
              </a:rPr>
              <a:t>9 / 10   -&gt;   stress 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159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Source /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31596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news · 2026-10-01 13:40 UTC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7548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Why impact =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29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base 6.5 + intensity 0.5 + exposure 0.8 + tone 1.5 = 9.3 -&gt; rounded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4864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F7CFF"/>
                </a:solidFill>
                <a:latin typeface="Calibri"/>
              </a:rPr>
              <a:t>Keywords: default, downgrad, missed a coupon, restructur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7CFF"/>
                </a:solidFill>
                <a:latin typeface="Calibri"/>
              </a:rPr>
              <a:t>MODULE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F6FC"/>
                </a:solidFill>
                <a:latin typeface="Calibri"/>
              </a:rPr>
              <a:t>Event-driven portfolio stress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RiskPulse AI  ·  S&amp;P Global &amp; Crisil Campus Hackathon 2026  · 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8A999"/>
                </a:solidFill>
                <a:latin typeface="Calibri"/>
              </a:rPr>
              <a:t>Auto-triggered: Market / Liquidity signal (impact 10 &gt; 7) -&gt; scenario 'Market / liquidity stress', severity scale 1.25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19751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402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3F6FC"/>
                </a:solidFill>
                <a:latin typeface="Calibri"/>
              </a:rPr>
              <a:t>$1.02bn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82880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15768" y="19751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2402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3F6FC"/>
                </a:solidFill>
                <a:latin typeface="Calibri"/>
              </a:rPr>
              <a:t>$990.41m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2880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81728" y="19751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P&amp;L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2402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05260"/>
                </a:solidFill>
                <a:latin typeface="Calibri"/>
              </a:rPr>
              <a:t>-$28.69m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828800"/>
            <a:ext cx="1600200" cy="114300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47688" y="19751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P&amp;L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240280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05260"/>
                </a:solidFill>
                <a:latin typeface="Calibri"/>
              </a:rPr>
              <a:t>-2.81%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02920" y="3108960"/>
          <a:ext cx="7589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8321040" y="1828800"/>
            <a:ext cx="3291840" cy="429768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03920" y="19659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3F6FC"/>
                </a:solidFill>
                <a:latin typeface="Calibri"/>
              </a:rPr>
              <a:t>Assumptions (explicit)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7744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Rates -50 bp (flight to quality)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Equities -18.8% x beta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Spreads +125 bp BBB / +312 bp HY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Loan PD x1.25, LGD +3.8 pp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Liquidity haircut after market moves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Bonds: -ModDur x dy (bp / 10,000)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Derivatives: delta / DV01 approximations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00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F6FC"/>
                </a:solidFill>
                <a:latin typeface="Calibri"/>
              </a:rPr>
              <a:t>Second example (entity-specific)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0749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MRDS credit event: -$12.47m (-1.22%); CDS hedge offsets $3.26m. Totals reconcile to the cent.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7C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F6FC"/>
                </a:solidFill>
                <a:latin typeface="Calibri"/>
              </a:rPr>
              <a:t>Results, validation and domain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RiskPulse AI  ·  S&amp;P Global &amp; Crisil Campus Hackathon 2026  · 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6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15636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2C55E"/>
                </a:solidFill>
                <a:latin typeface="Calibri"/>
              </a:rPr>
              <a:t>93 / 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ingestion, NLP, maths, API,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41732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44368" y="15636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RECORDS INGESTED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8288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3F6FC"/>
                </a:solidFill>
                <a:latin typeface="Calibri"/>
              </a:rPr>
              <a:t>266 -&gt; 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12 duplicates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41732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38928" y="15636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GROUPED CV MACRO-F1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8288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3F6FC"/>
                </a:solidFill>
                <a:latin typeface="Calibri"/>
              </a:rPr>
              <a:t>0.976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held-out templates (optimistic)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417320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33488" y="15636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P&amp;L RECONCILIATION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182880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2C55E"/>
                </a:solidFill>
                <a:latin typeface="Calibri"/>
              </a:rPr>
              <a:t>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221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components = positions = total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02920" y="2788920"/>
          <a:ext cx="42976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892040" y="2788920"/>
          <a:ext cx="429768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9372600" y="1417320"/>
            <a:ext cx="2240280" cy="466344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2B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55480" y="1554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3F6FC"/>
                </a:solidFill>
                <a:latin typeface="Calibri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1965960"/>
            <a:ext cx="19202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Early warning: minutes from headline to quantified exposure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Explainable scores an analyst can audit and challenge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Links NLP output directly to portfolio P&amp;L by asset class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•  API + CSV/JSON feed limits, alerts and credit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89904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4B942"/>
                </a:solidFill>
                <a:latin typeface="Calibri"/>
              </a:rPr>
              <a:t>All metrics measured on synthetic data by scripts/evaluate_model.py; they show the pipeline works, not real-market predictive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7CFF"/>
                </a:solidFill>
                <a:latin typeface="Calibri"/>
              </a:rPr>
              <a:t>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3F6F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RiskPulse AI  ·  S&amp;P Global &amp; Crisil Campus Hackathon 2026  · 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7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352044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4B942"/>
                </a:solidFill>
                <a:latin typeface="Calibri"/>
              </a:rPr>
              <a:t>What remains unvalidated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Synthetic, template-generated text; no real-market labels or price reaction data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Baseline classifier generalises poorly to unseen phrasing (23% on paraphrases)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Impact weights and scenario shocks are expert-set, not calibrated to history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First-order stress maths: no convexity, gamma/vega or full loan revaluation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Dictionary entity linking over a fixed fictional universe; one primary entity per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3520440"/>
          </a:xfrm>
          <a:prstGeom prst="roundRect">
            <a:avLst>
              <a:gd name="adj" fmla="val 6000"/>
            </a:avLst>
          </a:prstGeom>
          <a:solidFill>
            <a:srgbClr val="18263B"/>
          </a:solidFill>
          <a:ln w="12700">
            <a:solidFill>
              <a:srgbClr val="18A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8A999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9377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Label real public news (with licences) and calibrate impact against market moves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Fine-tune FinBERT / a small LLM for events; keep rules as an audit layer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Historical scenario library (2008, 2020, 2022 rates) and full repricing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Streaming ingestion (Kafka) with alerting and analyst feedback loop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3F6FC"/>
                </a:solidFill>
                <a:latin typeface="Calibri"/>
              </a:rPr>
              <a:t>•  Coreference + entity resolution against reference data (LEI / tickers)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532180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7CFF"/>
                </a:solidFill>
                <a:latin typeface="Calibri"/>
              </a:rPr>
              <a:t>Benefit: </a:t>
            </a:r>
            <a:r>
              <a:rPr sz="1300" b="0" i="0">
                <a:solidFill>
                  <a:srgbClr val="F3F6FC"/>
                </a:solidFill>
                <a:latin typeface="Calibri"/>
              </a:rPr>
              <a:t>headline-to-P&amp;L in one explainable, offline workflow an analyst can audit.  </a:t>
            </a:r>
            <a:r>
              <a:rPr sz="1300" b="1" i="0">
                <a:solidFill>
                  <a:srgbClr val="F4B942"/>
                </a:solidFill>
                <a:latin typeface="Calibri"/>
              </a:rPr>
              <a:t>Key limitation: </a:t>
            </a:r>
            <a:r>
              <a:rPr sz="1300" b="0" i="0">
                <a:solidFill>
                  <a:srgbClr val="F3F6FC"/>
                </a:solidFill>
                <a:latin typeface="Calibri"/>
              </a:rPr>
              <a:t>validated on synthetic data only; real-market calibration is the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